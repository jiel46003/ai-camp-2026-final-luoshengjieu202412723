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5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4F0"/>
                </a:solidFill>
                <a:latin typeface="微软雅黑" panose="020B0503020204020204" charset="-122"/>
                <a:ea typeface="微软雅黑" panose="020B0503020204020204" charset="-122"/>
              </a:rPr>
              <a:t>FINAL · 最终项目答辩 · 四人协作 · 共 10 分钟</a:t>
            </a:r>
            <a:endParaRPr sz="1400" b="0">
              <a:solidFill>
                <a:srgbClr val="C8D4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用身体与选秀信息预测 NBA 场均得分</a:t>
            </a:r>
            <a:endParaRPr sz="3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4F0"/>
                </a:solidFill>
                <a:latin typeface="微软雅黑" panose="020B0503020204020204" charset="-122"/>
                <a:ea typeface="微软雅黑" panose="020B0503020204020204" charset="-122"/>
              </a:rPr>
              <a:t>真实数据 · 同条件比较 · 失败案例分析</a:t>
            </a:r>
            <a:endParaRPr sz="1600" b="0">
              <a:solidFill>
                <a:srgbClr val="C8D4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3200400"/>
            <a:ext cx="26060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3200400"/>
            <a:ext cx="2606040" cy="109728"/>
          </a:xfrm>
          <a:prstGeom prst="rect">
            <a:avLst/>
          </a:prstGeom>
          <a:solidFill>
            <a:srgbClr val="3B6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3832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</a:rPr>
              <a:t>成员A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3794760"/>
            <a:ext cx="2331720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开场 · 1 分钟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</a:p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问题 · 使用者 · 任务类型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383280" y="3200400"/>
            <a:ext cx="26060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3200400"/>
            <a:ext cx="2606040" cy="109728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33832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</a:rPr>
              <a:t>成员B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20440" y="3794760"/>
            <a:ext cx="2331720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主讲一 · 4 分钟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</a:p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数据契约 · 系统流程 · 基线与候选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17920" y="3200400"/>
            <a:ext cx="26060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3200400"/>
            <a:ext cx="2606040" cy="109728"/>
          </a:xfrm>
          <a:prstGeom prst="rect">
            <a:avLst/>
          </a:prstGeom>
          <a:solidFill>
            <a:srgbClr val="EB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3832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</a:rPr>
              <a:t>成员C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55080" y="3794760"/>
            <a:ext cx="2331720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主讲二 · 4 分钟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</a:p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同条件结果 · 失败案例 · 现场演示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052560" y="3200400"/>
            <a:ext cx="26060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52560" y="3200400"/>
            <a:ext cx="2606040" cy="109728"/>
          </a:xfrm>
          <a:prstGeom prst="rect">
            <a:avLst/>
          </a:prstGeom>
          <a:solidFill>
            <a:srgbClr val="DC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33832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</a:rPr>
              <a:t>成员D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89720" y="3794760"/>
            <a:ext cx="2331720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收尾 · 1 分钟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</a:p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限制 · 下一步 · 总结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问题与使用者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4F0"/>
                </a:solidFill>
                <a:latin typeface="微软雅黑" panose="020B0503020204020204" charset="-122"/>
                <a:ea typeface="微软雅黑" panose="020B0503020204020204" charset="-122"/>
              </a:rPr>
              <a:t>开场 · 1 分钟 · 把"谁需要什么结果"讲清楚</a:t>
            </a:r>
            <a:endParaRPr sz="1200" b="0">
              <a:solidFill>
                <a:srgbClr val="C8D4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869680" y="182880"/>
            <a:ext cx="2926080" cy="502920"/>
          </a:xfrm>
          <a:prstGeom prst="roundRect">
            <a:avLst/>
          </a:prstGeom>
          <a:solidFill>
            <a:srgbClr val="3B6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4F0"/>
                </a:solidFill>
                <a:latin typeface="微软雅黑" panose="020B0503020204020204" charset="-122"/>
                <a:ea typeface="微软雅黑" panose="020B0503020204020204" charset="-122"/>
              </a:rPr>
              <a:t>第一段 · 开场（0:00–1:00）→ 讲完请交接给成员B</a:t>
            </a:r>
            <a:endParaRPr sz="1100" b="0">
              <a:solidFill>
                <a:srgbClr val="C8D4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1280160"/>
            <a:ext cx="53949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280160"/>
            <a:ext cx="5394960" cy="109728"/>
          </a:xfrm>
          <a:prstGeom prst="rect">
            <a:avLst/>
          </a:prstGeom>
          <a:solidFill>
            <a:srgbClr val="3B6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630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</a:rPr>
              <a:t>使用者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1874519"/>
            <a:ext cx="512064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球队数据分析师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在考察球员前需要一份粗略的得分期望，决定先深挖谁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53035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5303520" cy="109728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463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</a:rPr>
              <a:t>输入与输出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55080" y="1874519"/>
            <a:ext cx="50292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输入：身高、体重、年龄、选秀轮次与顺位（选秀前可知）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输出：单赛季场均得分（分/场）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33832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</a:rPr>
              <a:t>项目句子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4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帮助球队分析师，根据选秀前可知的信息，预测场均得分，以便快速筛选候选人。</a:t>
            </a:r>
            <a:endParaRPr sz="14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</a:rPr>
              <a:t>普通案例：201cm 前锋 → 约 12 分量级；困难案例：185cm 技术流后卫 → 模型会低估，需人工复核。</a:t>
            </a:r>
            <a:endParaRPr sz="13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" y="4937760"/>
            <a:ext cx="1051560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</a:rPr>
              <a:t>任务类型：表格回归</a:t>
            </a:r>
            <a:endParaRPr sz="15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真实数据契约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4F0"/>
                </a:solidFill>
                <a:latin typeface="微软雅黑" panose="020B0503020204020204" charset="-122"/>
                <a:ea typeface="微软雅黑" panose="020B0503020204020204" charset="-122"/>
              </a:rPr>
              <a:t>先证明输入是真的，再谈模型</a:t>
            </a:r>
            <a:endParaRPr sz="1200" b="0">
              <a:solidFill>
                <a:srgbClr val="C8D4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869680" y="182880"/>
            <a:ext cx="2926080" cy="502920"/>
          </a:xfrm>
          <a:prstGeom prst="round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4F0"/>
                </a:solidFill>
                <a:latin typeface="微软雅黑" panose="020B0503020204020204" charset="-122"/>
                <a:ea typeface="微软雅黑" panose="020B0503020204020204" charset="-122"/>
              </a:rPr>
              <a:t>第二段 · 主讲一 · 成员B（1:00–5:00）</a:t>
            </a:r>
            <a:endParaRPr sz="1100" b="0">
              <a:solidFill>
                <a:srgbClr val="C8D4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1280160"/>
            <a:ext cx="53949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280160"/>
            <a:ext cx="5394960" cy="109728"/>
          </a:xfrm>
          <a:prstGeom prst="rect">
            <a:avLst/>
          </a:prstGeom>
          <a:solidFill>
            <a:srgbClr val="3B6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630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</a:rPr>
              <a:t>数据源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1874519"/>
            <a:ext cx="51206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NBA Players · all_seasons.csv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Kaggle justinas/nba-players-data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1996–2022 赛季，12844 行，22 列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许可：Other（描述页说明，已截图存档）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53035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5303520" cy="109728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463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</a:rPr>
              <a:t>检查结果（python main.py）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55080" y="1874519"/>
            <a:ext cx="5029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行数：12844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必需字段齐全：age / height / weight / draft_round / draft_number / pts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数据契约检查通过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</a:rPr>
              <a:t>发现并处理的问题：</a:t>
            </a:r>
            <a:endParaRPr sz="15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4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该版本无 position 列；4825 名落选球员顺位为 "Undrafted" 文本 → 编码为 0（数据清理）。</a:t>
            </a:r>
            <a:endParaRPr sz="14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</a:rPr>
              <a:t>data/raw/ 已被 .gitignore 排除，不提交原始大数据。</a:t>
            </a:r>
            <a:endParaRPr sz="13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系统流程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4F0"/>
                </a:solidFill>
                <a:latin typeface="微软雅黑" panose="020B0503020204020204" charset="-122"/>
                <a:ea typeface="微软雅黑" panose="020B0503020204020204" charset="-122"/>
              </a:rPr>
              <a:t>一条命令从真实输入到可复查输出</a:t>
            </a:r>
            <a:endParaRPr sz="1200" b="0">
              <a:solidFill>
                <a:srgbClr val="C8D4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869680" y="182880"/>
            <a:ext cx="2926080" cy="502920"/>
          </a:xfrm>
          <a:prstGeom prst="round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4F0"/>
                </a:solidFill>
                <a:latin typeface="微软雅黑" panose="020B0503020204020204" charset="-122"/>
                <a:ea typeface="微软雅黑" panose="020B0503020204020204" charset="-122"/>
              </a:rPr>
              <a:t>第二段 · 主讲一 · 成员B（1:00–5:00）</a:t>
            </a:r>
            <a:endParaRPr sz="1100" b="0">
              <a:solidFill>
                <a:srgbClr val="C8D4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</a:rPr>
              <a:t>真实输入 → 数据检查 → 数据清理(Undrafted→0) → z-score 特征 → 固定划分(seed=42, 80/20) → 基线(平均分) → 候选(随机森林) → 比较 MAE → 失败案例 → results/summary.txt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274320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743200"/>
            <a:ext cx="5394960" cy="109728"/>
          </a:xfrm>
          <a:prstGeom prst="rect">
            <a:avLst/>
          </a:prstGeom>
          <a:solidFill>
            <a:srgbClr val="3B6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</a:rPr>
              <a:t>最小必要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3337560"/>
            <a:ext cx="5120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只做单赛季场均得分回归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不做部署/界面/多模型调参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17920" y="2743200"/>
            <a:ext cx="5303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743200"/>
            <a:ext cx="5303520" cy="109728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</a:rPr>
              <a:t>防泄露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55080" y="333756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输入均为选秀前可知的静态信息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不使用同赛季得分相关统计（用结果预测结果是红线）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" y="4937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</a:rPr>
              <a:t>固定随机种子与划分，保证基线与候选在同一测试集上比较。</a:t>
            </a:r>
            <a:endParaRPr sz="15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基线与候选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4F0"/>
                </a:solidFill>
                <a:latin typeface="微软雅黑" panose="020B0503020204020204" charset="-122"/>
                <a:ea typeface="微软雅黑" panose="020B0503020204020204" charset="-122"/>
              </a:rPr>
              <a:t>只复杂一步，同条件比较</a:t>
            </a:r>
            <a:endParaRPr sz="1200" b="0">
              <a:solidFill>
                <a:srgbClr val="C8D4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869680" y="182880"/>
            <a:ext cx="2926080" cy="502920"/>
          </a:xfrm>
          <a:prstGeom prst="round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4F0"/>
                </a:solidFill>
                <a:latin typeface="微软雅黑" panose="020B0503020204020204" charset="-122"/>
                <a:ea typeface="微软雅黑" panose="020B0503020204020204" charset="-122"/>
              </a:rPr>
              <a:t>第二段 · 主讲一 · 成员B（1:00–5:00）→ 讲完请交接给成员C</a:t>
            </a:r>
            <a:endParaRPr sz="1100" b="0">
              <a:solidFill>
                <a:srgbClr val="C8D4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1280160"/>
            <a:ext cx="53949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280160"/>
            <a:ext cx="5394960" cy="109728"/>
          </a:xfrm>
          <a:prstGeom prst="rect">
            <a:avLst/>
          </a:prstGeom>
          <a:solidFill>
            <a:srgbClr val="DC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630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</a:rPr>
              <a:t>基线：平均分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1874519"/>
            <a:ext cx="51206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用训练集平均场均得分（8.17）预测所有人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MAE = 4.877 分/场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最简单、可解释、几秒可复现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53035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5303520" cy="109728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463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</a:rPr>
              <a:t>候选：随机森林回归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55080" y="1874519"/>
            <a:ext cx="50292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输入：身高/体重/年龄/选秀轮次/顺位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100 棵树，固定 seed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MAE = 3.053 分/场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可输出特征重要性用于解释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4663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</a:rPr>
              <a:t>为什么选随机森林：实验显示线性回归几乎不优于基线(+0.004)，树模型能捕捉非线性。</a:t>
            </a:r>
            <a:endParaRPr sz="15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</a:rPr>
              <a:t>没有堆叠模型、没有调参搜索——保持"复杂一步"。</a:t>
            </a:r>
            <a:endParaRPr sz="13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结果：候选显著优于基线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4F0"/>
                </a:solidFill>
                <a:latin typeface="微软雅黑" panose="020B0503020204020204" charset="-122"/>
                <a:ea typeface="微软雅黑" panose="020B0503020204020204" charset="-122"/>
              </a:rPr>
              <a:t>同一测试集 2568 个样本</a:t>
            </a:r>
            <a:endParaRPr sz="1200" b="0">
              <a:solidFill>
                <a:srgbClr val="C8D4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869680" y="182880"/>
            <a:ext cx="2926080" cy="502920"/>
          </a:xfrm>
          <a:prstGeom prst="roundRect">
            <a:avLst/>
          </a:prstGeom>
          <a:solidFill>
            <a:srgbClr val="EB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4F0"/>
                </a:solidFill>
                <a:latin typeface="微软雅黑" panose="020B0503020204020204" charset="-122"/>
                <a:ea typeface="微软雅黑" panose="020B0503020204020204" charset="-122"/>
              </a:rPr>
              <a:t>第三段 · 主讲二 · 成员C（5:00–9:00）</a:t>
            </a:r>
            <a:endParaRPr sz="1100" b="0">
              <a:solidFill>
                <a:srgbClr val="C8D4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1280160"/>
            <a:ext cx="53949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280160"/>
            <a:ext cx="5394960" cy="109728"/>
          </a:xfrm>
          <a:prstGeom prst="rect">
            <a:avLst/>
          </a:prstGeom>
          <a:solidFill>
            <a:srgbClr val="3B6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630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</a:rPr>
              <a:t>主指标 MAE（分/场）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1874519"/>
            <a:ext cx="5120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基线：4.877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候选：3.053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降低 37.4%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53035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5303520" cy="109728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463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</a:rPr>
              <a:t>特征重要性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55080" y="1874519"/>
            <a:ext cx="50292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顺位 draft_number：0.348（最强）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体重：0.251｜年龄：0.192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身高：0.161｜轮次：0.048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</a:rPr>
              <a:t>结论：进入联盟前的实力评价（顺位）与身体条件对得分有可验证的预测力。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4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评估协议：随机种子 42、80/20 划分、同一测试集；训练 10276 / 测试 2568。</a:t>
            </a:r>
            <a:endParaRPr sz="14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</a:rPr>
              <a:t>结果保存：results/summary.txt，可与 python main.py 输出核对。</a:t>
            </a:r>
            <a:endParaRPr sz="13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失败案例分析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4F0"/>
                </a:solidFill>
                <a:latin typeface="微软雅黑" panose="020B0503020204020204" charset="-122"/>
                <a:ea typeface="微软雅黑" panose="020B0503020204020204" charset="-122"/>
              </a:rPr>
              <a:t>模型更好，但不代表无所不能</a:t>
            </a:r>
            <a:endParaRPr sz="1200" b="0">
              <a:solidFill>
                <a:srgbClr val="C8D4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869680" y="182880"/>
            <a:ext cx="2926080" cy="502920"/>
          </a:xfrm>
          <a:prstGeom prst="roundRect">
            <a:avLst/>
          </a:prstGeom>
          <a:solidFill>
            <a:srgbClr val="EB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4F0"/>
                </a:solidFill>
                <a:latin typeface="微软雅黑" panose="020B0503020204020204" charset="-122"/>
                <a:ea typeface="微软雅黑" panose="020B0503020204020204" charset="-122"/>
              </a:rPr>
              <a:t>第三段 · 主讲二 · 成员C（5:00–9:00）</a:t>
            </a:r>
            <a:endParaRPr sz="1100" b="0">
              <a:solidFill>
                <a:srgbClr val="C8D4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1280160"/>
            <a:ext cx="69494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280160"/>
            <a:ext cx="6949440" cy="109728"/>
          </a:xfrm>
          <a:prstGeom prst="rect">
            <a:avLst/>
          </a:prstGeom>
          <a:solidFill>
            <a:srgbClr val="EB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63039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</a:rPr>
              <a:t>误差最大的真实样本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1874519"/>
            <a:ext cx="66751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Gordon Hayward：真实 2.0 / 预测 21.5（高估 19.5）——伤愈复出赛季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Amar'e Stoudemire：真实 25.3 / 预测 7.2（低估 18.1）——技术流内线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955279" y="1280160"/>
            <a:ext cx="35661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280160"/>
            <a:ext cx="3566160" cy="109728"/>
          </a:xfrm>
          <a:prstGeom prst="rect">
            <a:avLst/>
          </a:prstGeom>
          <a:solidFill>
            <a:srgbClr val="DC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146303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</a:rPr>
              <a:t>它说明了什么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92440" y="1874519"/>
            <a:ext cx="32918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静态档案看不到伤病/体系/技术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预测 ≠ 球员真实水平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模型只适合初步筛选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43891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</a:rPr>
              <a:t>能证明：模型在技术流/伤病型个体上会严重偏差，人工复核必要。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4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不能证明：模型在普通球员上也失效——MAE 显示整体仍显著优于基线。</a:t>
            </a:r>
            <a:endParaRPr sz="14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运行演示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4F0"/>
                </a:solidFill>
                <a:latin typeface="微软雅黑" panose="020B0503020204020204" charset="-122"/>
                <a:ea typeface="微软雅黑" panose="020B0503020204020204" charset="-122"/>
              </a:rPr>
              <a:t>一条命令复现，现场可跑</a:t>
            </a:r>
            <a:endParaRPr sz="1200" b="0">
              <a:solidFill>
                <a:srgbClr val="C8D4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869680" y="182880"/>
            <a:ext cx="2926080" cy="502920"/>
          </a:xfrm>
          <a:prstGeom prst="roundRect">
            <a:avLst/>
          </a:prstGeom>
          <a:solidFill>
            <a:srgbClr val="EB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4F0"/>
                </a:solidFill>
                <a:latin typeface="微软雅黑" panose="020B0503020204020204" charset="-122"/>
                <a:ea typeface="微软雅黑" panose="020B0503020204020204" charset="-122"/>
              </a:rPr>
              <a:t>第三段 · 主讲二 · 成员C（5:00–9:00）→ 讲完请交接给成员D</a:t>
            </a:r>
            <a:endParaRPr sz="1100" b="0">
              <a:solidFill>
                <a:srgbClr val="C8D4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1280160"/>
            <a:ext cx="603504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280160"/>
            <a:ext cx="6035040" cy="109728"/>
          </a:xfrm>
          <a:prstGeom prst="rect">
            <a:avLst/>
          </a:prstGeom>
          <a:solidFill>
            <a:srgbClr val="3B6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63039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</a:rPr>
              <a:t>运行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1874519"/>
            <a:ext cx="57607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python -m pip install -r requirements.txt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python main.py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</a:p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输出：数据检查 → 清理 4825 个落选值 → MAE 对比 → 失败案例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结果存 results/summary.txt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949440" y="1280160"/>
            <a:ext cx="457200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49440" y="1280160"/>
            <a:ext cx="4572000" cy="109728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1463039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</a:rPr>
              <a:t>测试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86600" y="1874519"/>
            <a:ext cx="42976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python -m unittest discover -s tests -v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</a:p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数据契约单测：文件存在、行数、必需字段、pts 数值、落选值清理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全部通过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5577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</a:rPr>
              <a:t>另组同学只读 README 即可复现：安装 → 运行 → 测试。</a:t>
            </a:r>
            <a:endParaRPr sz="14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限制与下一步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4F0"/>
                </a:solidFill>
                <a:latin typeface="微软雅黑" panose="020B0503020204020204" charset="-122"/>
                <a:ea typeface="微软雅黑" panose="020B0503020204020204" charset="-122"/>
              </a:rPr>
              <a:t>诚实声明边界，最小可验证改进</a:t>
            </a:r>
            <a:endParaRPr sz="1200" b="0">
              <a:solidFill>
                <a:srgbClr val="C8D4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869680" y="182880"/>
            <a:ext cx="2926080" cy="502920"/>
          </a:xfrm>
          <a:prstGeom prst="roundRect">
            <a:avLst/>
          </a:prstGeom>
          <a:solidFill>
            <a:srgbClr val="DC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4F0"/>
                </a:solidFill>
                <a:latin typeface="微软雅黑" panose="020B0503020204020204" charset="-122"/>
                <a:ea typeface="微软雅黑" panose="020B0503020204020204" charset="-122"/>
              </a:rPr>
              <a:t>第四段 · 收尾 · 成员D（9:00–10:00）→ 讲完进入提问环节</a:t>
            </a:r>
            <a:endParaRPr sz="1100" b="0">
              <a:solidFill>
                <a:srgbClr val="C8D4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1280160"/>
            <a:ext cx="53949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280160"/>
            <a:ext cx="5394960" cy="109728"/>
          </a:xfrm>
          <a:prstGeom prst="rect">
            <a:avLst/>
          </a:prstGeom>
          <a:solidFill>
            <a:srgbClr val="DC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630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</a:rPr>
              <a:t>限制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1874519"/>
            <a:ext cx="51206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数据：无 position 列、无大学表现、截止 2022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方法：对极端个体外推弱、未调参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评估：随机 80/20，同一球员可能跨训练/测试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产品：只给单一数字，不做决策建议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53035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5303520" cy="109728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463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</a:rPr>
              <a:t>下一步（最小改进）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55080" y="1874519"/>
            <a:ext cx="50292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按球员分组划分，消除跨集泄漏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加 country 特征（实验 MAE 可降到 2.91）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同一测试集重跑验证是否真实改善</a:t>
            </a:r>
            <a:endParaRPr sz="13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4572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</a:rPr>
              <a:t>一句话总结：用选秀前可知的信息，随机森林预测场均得分，误差比"平均分"低 37%；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500" b="0">
                <a:solidFill>
                  <a:srgbClr val="1E2834"/>
                </a:solidFill>
                <a:latin typeface="微软雅黑" panose="020B0503020204020204" charset="-122"/>
                <a:ea typeface="微软雅黑" panose="020B0503020204020204" charset="-122"/>
              </a:rPr>
              <a:t>但伤病与技术流球员需要人工复核——模型用于初筛，不替代判断。</a:t>
            </a:r>
            <a:endParaRPr sz="1500" b="0">
              <a:solidFill>
                <a:srgbClr val="1E28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2398</Words>
  <Application>WPS 演示</Application>
  <PresentationFormat>On-screen Show (4:3)</PresentationFormat>
  <Paragraphs>204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CX</cp:lastModifiedBy>
  <cp:revision>2</cp:revision>
  <dcterms:created xsi:type="dcterms:W3CDTF">2013-01-27T09:14:00Z</dcterms:created>
  <dcterms:modified xsi:type="dcterms:W3CDTF">2026-08-26T13:31:17Z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2052-11.8.2.9022</vt:lpwstr>
  </property>
</Properties>
</file>